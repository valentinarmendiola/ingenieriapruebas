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relia" charset="1" panose="00000500000000000000"/>
      <p:regular r:id="rId13"/>
    </p:embeddedFont>
    <p:embeddedFont>
      <p:font typeface="Montserrat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Relationship Id="rId6" Target="../media/image30.jpeg" Type="http://schemas.openxmlformats.org/officeDocument/2006/relationships/image"/><Relationship Id="rId7" Target="../media/image3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2181" y="910770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5" y="0"/>
                </a:lnTo>
                <a:lnTo>
                  <a:pt x="7827435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14584" y="6196300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7"/>
                </a:lnTo>
                <a:lnTo>
                  <a:pt x="0" y="461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86949" y="5692666"/>
            <a:ext cx="5009073" cy="4744958"/>
          </a:xfrm>
          <a:custGeom>
            <a:avLst/>
            <a:gdLst/>
            <a:ahLst/>
            <a:cxnLst/>
            <a:rect r="r" b="b" t="t" l="l"/>
            <a:pathLst>
              <a:path h="4744958" w="5009073">
                <a:moveTo>
                  <a:pt x="0" y="0"/>
                </a:moveTo>
                <a:lnTo>
                  <a:pt x="5009074" y="0"/>
                </a:lnTo>
                <a:lnTo>
                  <a:pt x="5009074" y="4744959"/>
                </a:lnTo>
                <a:lnTo>
                  <a:pt x="0" y="4744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7941">
            <a:off x="-652915" y="685901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7" y="0"/>
                </a:lnTo>
                <a:lnTo>
                  <a:pt x="440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0981" y="-711888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6048" y="7548011"/>
            <a:ext cx="2834933" cy="2572057"/>
          </a:xfrm>
          <a:custGeom>
            <a:avLst/>
            <a:gdLst/>
            <a:ahLst/>
            <a:cxnLst/>
            <a:rect r="r" b="b" t="t" l="l"/>
            <a:pathLst>
              <a:path h="2572057" w="2834933">
                <a:moveTo>
                  <a:pt x="0" y="0"/>
                </a:moveTo>
                <a:lnTo>
                  <a:pt x="2834933" y="0"/>
                </a:lnTo>
                <a:lnTo>
                  <a:pt x="2834933" y="2572058"/>
                </a:lnTo>
                <a:lnTo>
                  <a:pt x="0" y="2572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7185">
            <a:off x="3102614" y="7394046"/>
            <a:ext cx="2551459" cy="2688319"/>
          </a:xfrm>
          <a:custGeom>
            <a:avLst/>
            <a:gdLst/>
            <a:ahLst/>
            <a:cxnLst/>
            <a:rect r="r" b="b" t="t" l="l"/>
            <a:pathLst>
              <a:path h="2688319" w="2551459">
                <a:moveTo>
                  <a:pt x="0" y="0"/>
                </a:moveTo>
                <a:lnTo>
                  <a:pt x="2551460" y="0"/>
                </a:lnTo>
                <a:lnTo>
                  <a:pt x="2551460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72354" y="-711888"/>
            <a:ext cx="3739373" cy="3739373"/>
          </a:xfrm>
          <a:custGeom>
            <a:avLst/>
            <a:gdLst/>
            <a:ahLst/>
            <a:cxnLst/>
            <a:rect r="r" b="b" t="t" l="l"/>
            <a:pathLst>
              <a:path h="3739373" w="3739373">
                <a:moveTo>
                  <a:pt x="0" y="0"/>
                </a:moveTo>
                <a:lnTo>
                  <a:pt x="3739373" y="0"/>
                </a:lnTo>
                <a:lnTo>
                  <a:pt x="3739373" y="3739374"/>
                </a:lnTo>
                <a:lnTo>
                  <a:pt x="0" y="37393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11544" y="393838"/>
            <a:ext cx="1889507" cy="1903349"/>
          </a:xfrm>
          <a:custGeom>
            <a:avLst/>
            <a:gdLst/>
            <a:ahLst/>
            <a:cxnLst/>
            <a:rect r="r" b="b" t="t" l="l"/>
            <a:pathLst>
              <a:path h="1903349" w="1889507">
                <a:moveTo>
                  <a:pt x="0" y="0"/>
                </a:moveTo>
                <a:lnTo>
                  <a:pt x="1889507" y="0"/>
                </a:lnTo>
                <a:lnTo>
                  <a:pt x="1889507" y="1903349"/>
                </a:lnTo>
                <a:lnTo>
                  <a:pt x="0" y="1903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17930">
            <a:off x="14980542" y="330918"/>
            <a:ext cx="1413053" cy="2029188"/>
          </a:xfrm>
          <a:custGeom>
            <a:avLst/>
            <a:gdLst/>
            <a:ahLst/>
            <a:cxnLst/>
            <a:rect r="r" b="b" t="t" l="l"/>
            <a:pathLst>
              <a:path h="2029188" w="1413053">
                <a:moveTo>
                  <a:pt x="0" y="0"/>
                </a:moveTo>
                <a:lnTo>
                  <a:pt x="1413052" y="0"/>
                </a:lnTo>
                <a:lnTo>
                  <a:pt x="1413052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2142382" y="2962211"/>
            <a:ext cx="16516561" cy="146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BookSync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0242" y="4344472"/>
            <a:ext cx="9489264" cy="163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5"/>
              </a:lnSpc>
            </a:pPr>
            <a:r>
              <a:rPr lang="en-US" sz="4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Biblioteca interactiva y personalizable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3573" y="2778948"/>
            <a:ext cx="4803450" cy="404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Integrantes:</a:t>
            </a:r>
          </a:p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Rodríguez Mendiola Valentina</a:t>
            </a:r>
          </a:p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Martínez Lagunas Andrik Jeovany</a:t>
            </a:r>
          </a:p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Mejía Ramírez Luis Alejandro </a:t>
            </a:r>
          </a:p>
          <a:p>
            <a:pPr algn="ctr">
              <a:lnSpc>
                <a:spcPts val="3617"/>
              </a:lnSpc>
            </a:pPr>
            <a:r>
              <a:rPr lang="en-US" sz="258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Jimenez Rogel Sergio </a:t>
            </a:r>
          </a:p>
          <a:p>
            <a:pPr algn="ctr">
              <a:lnSpc>
                <a:spcPts val="361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2744" y="7215128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1" y="0"/>
                </a:lnTo>
                <a:lnTo>
                  <a:pt x="4160581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67901" y="3853425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6" y="0"/>
                </a:lnTo>
                <a:lnTo>
                  <a:pt x="9355306" y="9355306"/>
                </a:lnTo>
                <a:lnTo>
                  <a:pt x="0" y="935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67901" y="3191409"/>
            <a:ext cx="5729860" cy="6002710"/>
          </a:xfrm>
          <a:custGeom>
            <a:avLst/>
            <a:gdLst/>
            <a:ahLst/>
            <a:cxnLst/>
            <a:rect r="r" b="b" t="t" l="l"/>
            <a:pathLst>
              <a:path h="6002710" w="5729860">
                <a:moveTo>
                  <a:pt x="0" y="0"/>
                </a:moveTo>
                <a:lnTo>
                  <a:pt x="5729860" y="0"/>
                </a:lnTo>
                <a:lnTo>
                  <a:pt x="5729860" y="6002711"/>
                </a:lnTo>
                <a:lnTo>
                  <a:pt x="0" y="600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2744" y="3758175"/>
            <a:ext cx="8395093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4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BookSync es una aplicación pensada para tener y gestionar una biblioteca personal al igual que múltiples usuarios pueden compartir sus propias bibliotecas y todos puedan en linea de manera eficiente y con una personalización única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2744" y="2486601"/>
            <a:ext cx="642071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Visión General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6310" y="3925646"/>
            <a:ext cx="20140619" cy="20140619"/>
          </a:xfrm>
          <a:custGeom>
            <a:avLst/>
            <a:gdLst/>
            <a:ahLst/>
            <a:cxnLst/>
            <a:rect r="r" b="b" t="t" l="l"/>
            <a:pathLst>
              <a:path h="20140619" w="20140619">
                <a:moveTo>
                  <a:pt x="0" y="0"/>
                </a:moveTo>
                <a:lnTo>
                  <a:pt x="20140620" y="0"/>
                </a:lnTo>
                <a:lnTo>
                  <a:pt x="20140620" y="20140619"/>
                </a:lnTo>
                <a:lnTo>
                  <a:pt x="0" y="2014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8675" y="5744903"/>
            <a:ext cx="4210185" cy="4248811"/>
          </a:xfrm>
          <a:custGeom>
            <a:avLst/>
            <a:gdLst/>
            <a:ahLst/>
            <a:cxnLst/>
            <a:rect r="r" b="b" t="t" l="l"/>
            <a:pathLst>
              <a:path h="4248811" w="4210185">
                <a:moveTo>
                  <a:pt x="0" y="0"/>
                </a:moveTo>
                <a:lnTo>
                  <a:pt x="4210185" y="0"/>
                </a:lnTo>
                <a:lnTo>
                  <a:pt x="4210185" y="4248811"/>
                </a:lnTo>
                <a:lnTo>
                  <a:pt x="0" y="4248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76327" y="1028700"/>
            <a:ext cx="4385930" cy="4114800"/>
          </a:xfrm>
          <a:custGeom>
            <a:avLst/>
            <a:gdLst/>
            <a:ahLst/>
            <a:cxnLst/>
            <a:rect r="r" b="b" t="t" l="l"/>
            <a:pathLst>
              <a:path h="4114800" w="4385930">
                <a:moveTo>
                  <a:pt x="0" y="0"/>
                </a:moveTo>
                <a:lnTo>
                  <a:pt x="4385930" y="0"/>
                </a:lnTo>
                <a:lnTo>
                  <a:pt x="43859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8092" y="447675"/>
            <a:ext cx="547182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¿Qué puede realizar?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6508" y="2474971"/>
            <a:ext cx="5545732" cy="678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052" indent="-288526" lvl="1">
              <a:lnSpc>
                <a:spcPts val="6093"/>
              </a:lnSpc>
              <a:buFont typeface="Arial"/>
              <a:buChar char="•"/>
            </a:pPr>
            <a:r>
              <a:rPr lang="en-US" sz="2672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Agregar, editar y eliminar libros.</a:t>
            </a:r>
          </a:p>
          <a:p>
            <a:pPr algn="l" marL="577052" indent="-288526" lvl="1">
              <a:lnSpc>
                <a:spcPts val="6093"/>
              </a:lnSpc>
              <a:buFont typeface="Arial"/>
              <a:buChar char="•"/>
            </a:pPr>
            <a:r>
              <a:rPr lang="en-US" sz="2672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Sincronizar datos entre una base local y una base remota</a:t>
            </a:r>
          </a:p>
          <a:p>
            <a:pPr algn="l" marL="577052" indent="-288526" lvl="1">
              <a:lnSpc>
                <a:spcPts val="6093"/>
              </a:lnSpc>
              <a:buFont typeface="Arial"/>
              <a:buChar char="•"/>
            </a:pPr>
            <a:r>
              <a:rPr lang="en-US" sz="2672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Filtrar libros </a:t>
            </a:r>
          </a:p>
          <a:p>
            <a:pPr algn="l" marL="577052" indent="-288526" lvl="1">
              <a:lnSpc>
                <a:spcPts val="6093"/>
              </a:lnSpc>
              <a:buFont typeface="Arial"/>
              <a:buChar char="•"/>
            </a:pPr>
            <a:r>
              <a:rPr lang="en-US" sz="2672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Personalizar colores en la interfaz</a:t>
            </a:r>
          </a:p>
          <a:p>
            <a:pPr algn="l" marL="577052" indent="-288526" lvl="1">
              <a:lnSpc>
                <a:spcPts val="6093"/>
              </a:lnSpc>
              <a:buFont typeface="Arial"/>
              <a:buChar char="•"/>
            </a:pPr>
            <a:r>
              <a:rPr lang="en-US" sz="2672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Tener sección de favoritos para los autores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5957" y="2269611"/>
            <a:ext cx="6256085" cy="5747778"/>
          </a:xfrm>
          <a:custGeom>
            <a:avLst/>
            <a:gdLst/>
            <a:ahLst/>
            <a:cxnLst/>
            <a:rect r="r" b="b" t="t" l="l"/>
            <a:pathLst>
              <a:path h="5747778" w="6256085">
                <a:moveTo>
                  <a:pt x="0" y="0"/>
                </a:moveTo>
                <a:lnTo>
                  <a:pt x="6256086" y="0"/>
                </a:lnTo>
                <a:lnTo>
                  <a:pt x="6256086" y="5747778"/>
                </a:lnTo>
                <a:lnTo>
                  <a:pt x="0" y="574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54555" y="1824242"/>
            <a:ext cx="455384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Herramientas utilizadas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0431" y="1725192"/>
            <a:ext cx="45538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¿Cómo funciona?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4180" y="271651"/>
            <a:ext cx="1425336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Funciones y tecnologías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5037" y="2559754"/>
            <a:ext cx="6192990" cy="630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2175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Toda la bibliotecas funcionan de manera local y comparte elementos remotos para tener una conexión con amigos, familiares o quien quieras para que todos conozcan que libros te gustan en tiempo real y que los puedan leer al mismo tiempo si así se desea además de tener una implementación bidireccional, lo que puede permitir subir al servidor elementos locales o de alguna forma remota.</a:t>
            </a:r>
          </a:p>
          <a:p>
            <a:pPr algn="ctr">
              <a:lnSpc>
                <a:spcPts val="3590"/>
              </a:lnSpc>
            </a:pPr>
            <a:r>
              <a:rPr lang="en-US" sz="2175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Al iniciar la aplicación, la base de datos locales se actualiza con elementos mas recientes del servidor y registra nuevos elementos o modificaciones.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20658" y="3144737"/>
            <a:ext cx="6621639" cy="481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Android Studio – Entorno de desarrollo principal.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Kotlin – Lenguaje de programación.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Jetpack Compose – Toolkit para la construcción de la interfaz.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SQLite – Base de datos local en el dispositivo.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USB Web Server – Servidor local que incluye: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 Apache - para servir archivos PHP.</a:t>
            </a:r>
          </a:p>
          <a:p>
            <a:pPr algn="ctr">
              <a:lnSpc>
                <a:spcPts val="3838"/>
              </a:lnSpc>
            </a:pPr>
            <a:r>
              <a:rPr lang="en-US" sz="2326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 MySQL - como base de datos remota.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0988" y="-492048"/>
            <a:ext cx="20140619" cy="20140619"/>
          </a:xfrm>
          <a:custGeom>
            <a:avLst/>
            <a:gdLst/>
            <a:ahLst/>
            <a:cxnLst/>
            <a:rect r="r" b="b" t="t" l="l"/>
            <a:pathLst>
              <a:path h="20140619" w="20140619">
                <a:moveTo>
                  <a:pt x="0" y="0"/>
                </a:moveTo>
                <a:lnTo>
                  <a:pt x="20140619" y="0"/>
                </a:lnTo>
                <a:lnTo>
                  <a:pt x="20140619" y="20140620"/>
                </a:lnTo>
                <a:lnTo>
                  <a:pt x="0" y="2014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2425" y="2322431"/>
            <a:ext cx="3019039" cy="5642138"/>
          </a:xfrm>
          <a:custGeom>
            <a:avLst/>
            <a:gdLst/>
            <a:ahLst/>
            <a:cxnLst/>
            <a:rect r="r" b="b" t="t" l="l"/>
            <a:pathLst>
              <a:path h="5642138" w="3019039">
                <a:moveTo>
                  <a:pt x="0" y="0"/>
                </a:moveTo>
                <a:lnTo>
                  <a:pt x="3019038" y="0"/>
                </a:lnTo>
                <a:lnTo>
                  <a:pt x="3019038" y="5642138"/>
                </a:lnTo>
                <a:lnTo>
                  <a:pt x="0" y="5642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62" t="-48740" r="-28346" b="-483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54488" y="-99050"/>
            <a:ext cx="2811320" cy="4641508"/>
          </a:xfrm>
          <a:custGeom>
            <a:avLst/>
            <a:gdLst/>
            <a:ahLst/>
            <a:cxnLst/>
            <a:rect r="r" b="b" t="t" l="l"/>
            <a:pathLst>
              <a:path h="4641508" w="2811320">
                <a:moveTo>
                  <a:pt x="0" y="0"/>
                </a:moveTo>
                <a:lnTo>
                  <a:pt x="2811321" y="0"/>
                </a:lnTo>
                <a:lnTo>
                  <a:pt x="2811321" y="4641508"/>
                </a:lnTo>
                <a:lnTo>
                  <a:pt x="0" y="4641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894" t="-35011" r="-9786" b="-4761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03538" y="4995869"/>
            <a:ext cx="2894815" cy="4933416"/>
          </a:xfrm>
          <a:custGeom>
            <a:avLst/>
            <a:gdLst/>
            <a:ahLst/>
            <a:cxnLst/>
            <a:rect r="r" b="b" t="t" l="l"/>
            <a:pathLst>
              <a:path h="4933416" w="2894815">
                <a:moveTo>
                  <a:pt x="0" y="0"/>
                </a:moveTo>
                <a:lnTo>
                  <a:pt x="2894815" y="0"/>
                </a:lnTo>
                <a:lnTo>
                  <a:pt x="2894815" y="4933416"/>
                </a:lnTo>
                <a:lnTo>
                  <a:pt x="0" y="4933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79" t="-34764" r="-13790" b="-5087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10603" y="552767"/>
            <a:ext cx="2526941" cy="4443102"/>
          </a:xfrm>
          <a:custGeom>
            <a:avLst/>
            <a:gdLst/>
            <a:ahLst/>
            <a:cxnLst/>
            <a:rect r="r" b="b" t="t" l="l"/>
            <a:pathLst>
              <a:path h="4443102" w="2526941">
                <a:moveTo>
                  <a:pt x="0" y="0"/>
                </a:moveTo>
                <a:lnTo>
                  <a:pt x="2526941" y="0"/>
                </a:lnTo>
                <a:lnTo>
                  <a:pt x="2526941" y="4443102"/>
                </a:lnTo>
                <a:lnTo>
                  <a:pt x="0" y="4443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9022" r="-13205" b="-1405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0412" y="811635"/>
            <a:ext cx="715057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6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Estructura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412" y="1566015"/>
            <a:ext cx="7873041" cy="890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principal: 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 encuentra la lista principal de todos los libros que estan de forma local o remota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agregar/editar: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 tiene un formulario completo para capturar o modificar datos de un libro en concreto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Menú desplegable: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La forma mas sencilla de navegar dentro de la aplicación donde se encuentra: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Agregar nuevo libro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Filtrar libros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Favoritos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Personalización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Ayuda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de filtros: 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Lo que permite una búsqueda por titulo, genero y autor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de favoritos: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Muestra los libros marcados como favoritos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de personalización: 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Donde se pueden realizar cambios de colores en el fondo, texto o cambiar el tipo de botones</a:t>
            </a:r>
          </a:p>
          <a:p>
            <a:pPr algn="l" marL="373539" indent="-186769" lvl="1">
              <a:lnSpc>
                <a:spcPts val="2854"/>
              </a:lnSpc>
              <a:buFont typeface="Arial"/>
              <a:buChar char="•"/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Pantalla de ayuda:</a:t>
            </a:r>
          </a:p>
          <a:p>
            <a:pPr algn="l">
              <a:lnSpc>
                <a:spcPts val="2854"/>
              </a:lnSpc>
            </a:pPr>
            <a:r>
              <a:rPr lang="en-US" sz="173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Que muestra información útil sobre el uso de la app.</a:t>
            </a:r>
          </a:p>
          <a:p>
            <a:pPr algn="l">
              <a:lnSpc>
                <a:spcPts val="2854"/>
              </a:lnSpc>
            </a:pPr>
          </a:p>
          <a:p>
            <a:pPr algn="l">
              <a:lnSpc>
                <a:spcPts val="285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54137" y="-7359145"/>
            <a:ext cx="16194793" cy="16194793"/>
          </a:xfrm>
          <a:custGeom>
            <a:avLst/>
            <a:gdLst/>
            <a:ahLst/>
            <a:cxnLst/>
            <a:rect r="r" b="b" t="t" l="l"/>
            <a:pathLst>
              <a:path h="16194793" w="16194793">
                <a:moveTo>
                  <a:pt x="0" y="0"/>
                </a:moveTo>
                <a:lnTo>
                  <a:pt x="16194793" y="0"/>
                </a:lnTo>
                <a:lnTo>
                  <a:pt x="16194793" y="16194792"/>
                </a:lnTo>
                <a:lnTo>
                  <a:pt x="0" y="16194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3043" y="5498501"/>
            <a:ext cx="6636932" cy="6335253"/>
          </a:xfrm>
          <a:custGeom>
            <a:avLst/>
            <a:gdLst/>
            <a:ahLst/>
            <a:cxnLst/>
            <a:rect r="r" b="b" t="t" l="l"/>
            <a:pathLst>
              <a:path h="6335253" w="6636932">
                <a:moveTo>
                  <a:pt x="0" y="0"/>
                </a:moveTo>
                <a:lnTo>
                  <a:pt x="6636932" y="0"/>
                </a:lnTo>
                <a:lnTo>
                  <a:pt x="6636932" y="6335253"/>
                </a:lnTo>
                <a:lnTo>
                  <a:pt x="0" y="633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43522" y="5422242"/>
            <a:ext cx="3180733" cy="3548485"/>
          </a:xfrm>
          <a:custGeom>
            <a:avLst/>
            <a:gdLst/>
            <a:ahLst/>
            <a:cxnLst/>
            <a:rect r="r" b="b" t="t" l="l"/>
            <a:pathLst>
              <a:path h="3548485" w="3180733">
                <a:moveTo>
                  <a:pt x="0" y="0"/>
                </a:moveTo>
                <a:lnTo>
                  <a:pt x="3180733" y="0"/>
                </a:lnTo>
                <a:lnTo>
                  <a:pt x="3180733" y="3548485"/>
                </a:lnTo>
                <a:lnTo>
                  <a:pt x="0" y="3548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3260" y="785876"/>
            <a:ext cx="6489951" cy="169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spc="12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Consideraciones técnicas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9706" y="1460574"/>
            <a:ext cx="8172096" cy="686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8"/>
              </a:lnSpc>
            </a:pPr>
            <a:r>
              <a:rPr lang="en-US" sz="2627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La app sincroniza libros de manera local y alojados en el servidor local, por lo cual se debe de tener el servidor local activo y la IP local debe de estar correctamente asignada.</a:t>
            </a:r>
          </a:p>
          <a:p>
            <a:pPr algn="l">
              <a:lnSpc>
                <a:spcPts val="3678"/>
              </a:lnSpc>
            </a:pPr>
          </a:p>
          <a:p>
            <a:pPr algn="l">
              <a:lnSpc>
                <a:spcPts val="3678"/>
              </a:lnSpc>
            </a:pPr>
            <a:r>
              <a:rPr lang="en-US" sz="2627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Si pruebas desde un dispositivo físico Android, ambos (PC y dispositivo) deben estar en la *misma red WiFi* para que funcione la conexión local.</a:t>
            </a:r>
          </a:p>
          <a:p>
            <a:pPr algn="l">
              <a:lnSpc>
                <a:spcPts val="3678"/>
              </a:lnSpc>
            </a:pPr>
          </a:p>
          <a:p>
            <a:pPr algn="l">
              <a:lnSpc>
                <a:spcPts val="3678"/>
              </a:lnSpc>
            </a:pPr>
            <a:r>
              <a:rPr lang="en-US" sz="2627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Asegúrate de que la app tiene permisos de red.</a:t>
            </a:r>
          </a:p>
          <a:p>
            <a:pPr algn="l">
              <a:lnSpc>
                <a:spcPts val="3678"/>
              </a:lnSpc>
            </a:pPr>
            <a:r>
              <a:rPr lang="en-US" sz="2627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La aplicación guarda las preferencias de colores y personalización y se aplican cada que se abre la app.</a:t>
            </a:r>
          </a:p>
          <a:p>
            <a:pPr algn="l">
              <a:lnSpc>
                <a:spcPts val="367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5740" y="5280891"/>
            <a:ext cx="4667959" cy="517719"/>
          </a:xfrm>
          <a:custGeom>
            <a:avLst/>
            <a:gdLst/>
            <a:ahLst/>
            <a:cxnLst/>
            <a:rect r="r" b="b" t="t" l="l"/>
            <a:pathLst>
              <a:path h="517719" w="4667959">
                <a:moveTo>
                  <a:pt x="0" y="0"/>
                </a:moveTo>
                <a:lnTo>
                  <a:pt x="4667960" y="0"/>
                </a:lnTo>
                <a:lnTo>
                  <a:pt x="4667960" y="517719"/>
                </a:lnTo>
                <a:lnTo>
                  <a:pt x="0" y="51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3860" y="4761806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6" y="0"/>
                </a:lnTo>
                <a:lnTo>
                  <a:pt x="9355306" y="9355306"/>
                </a:lnTo>
                <a:lnTo>
                  <a:pt x="0" y="935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65948" y="1489827"/>
            <a:ext cx="8004166" cy="7582129"/>
          </a:xfrm>
          <a:custGeom>
            <a:avLst/>
            <a:gdLst/>
            <a:ahLst/>
            <a:cxnLst/>
            <a:rect r="r" b="b" t="t" l="l"/>
            <a:pathLst>
              <a:path h="7582129" w="8004166">
                <a:moveTo>
                  <a:pt x="0" y="0"/>
                </a:moveTo>
                <a:lnTo>
                  <a:pt x="8004166" y="0"/>
                </a:lnTo>
                <a:lnTo>
                  <a:pt x="8004166" y="7582128"/>
                </a:lnTo>
                <a:lnTo>
                  <a:pt x="0" y="7582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3516" y="1214262"/>
            <a:ext cx="8952406" cy="406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2"/>
              </a:lnSpc>
            </a:pPr>
            <a:r>
              <a:rPr lang="en-US" sz="5785" spc="115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El futuro requiere una mayor inversión tecnológica para la conservación de libros y todos lo puedan ver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053409">
            <a:off x="11350985" y="6440960"/>
            <a:ext cx="2229693" cy="2780797"/>
          </a:xfrm>
          <a:custGeom>
            <a:avLst/>
            <a:gdLst/>
            <a:ahLst/>
            <a:cxnLst/>
            <a:rect r="r" b="b" t="t" l="l"/>
            <a:pathLst>
              <a:path h="2780797" w="2229693">
                <a:moveTo>
                  <a:pt x="0" y="0"/>
                </a:moveTo>
                <a:lnTo>
                  <a:pt x="2229693" y="0"/>
                </a:lnTo>
                <a:lnTo>
                  <a:pt x="2229693" y="2780797"/>
                </a:lnTo>
                <a:lnTo>
                  <a:pt x="0" y="2780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5417" y="6191980"/>
            <a:ext cx="3589553" cy="82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2"/>
              </a:lnSpc>
            </a:pPr>
            <a:r>
              <a:rPr lang="en-US" sz="5785" spc="115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DAG8BLiKR3g</dc:identifier>
  <dcterms:modified xsi:type="dcterms:W3CDTF">2011-08-01T06:04:30Z</dcterms:modified>
  <cp:revision>1</cp:revision>
  <dc:title>Presentación Proyecto Desarrollo Tecnológico Ilustrado Verde y Beige</dc:title>
</cp:coreProperties>
</file>